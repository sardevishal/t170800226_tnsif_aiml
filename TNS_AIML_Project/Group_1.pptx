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0.67500000000000004</c:v>
                </c:pt>
                <c:pt idx="1">
                  <c:v>0.57499999999999996</c:v>
                </c:pt>
                <c:pt idx="2">
                  <c:v>0.66249999999999998</c:v>
                </c:pt>
                <c:pt idx="3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C3-4FB3-AD2D-DB430A3FC4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SVM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0.72729999999999995</c:v>
                </c:pt>
                <c:pt idx="1">
                  <c:v>0.68179999999999996</c:v>
                </c:pt>
                <c:pt idx="2">
                  <c:v>0.75</c:v>
                </c:pt>
                <c:pt idx="3">
                  <c:v>0.70450000000000002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C3-4FB3-AD2D-DB430A3FC4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SVM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0.71109999999999995</c:v>
                </c:pt>
                <c:pt idx="1">
                  <c:v>0.63829999999999998</c:v>
                </c:pt>
                <c:pt idx="2">
                  <c:v>0.7097</c:v>
                </c:pt>
                <c:pt idx="3">
                  <c:v>0.68889999999999996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C3-4FB3-AD2D-DB430A3FC4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SVM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0.73419999999999996</c:v>
                </c:pt>
                <c:pt idx="1">
                  <c:v>0.56310000000000004</c:v>
                </c:pt>
                <c:pt idx="2">
                  <c:v>0.7601</c:v>
                </c:pt>
                <c:pt idx="3">
                  <c:v>0.73550000000000004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02-457D-8357-3FE6CBA44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.5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53BFCD"/>
                </a:solidFill>
              </a:defRPr>
            </a:pPr>
            <a:r>
              <a:t>HEART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69494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dirty="0"/>
              <a:t>Prediction using</a:t>
            </a:r>
            <a:br>
              <a:rPr dirty="0"/>
            </a:br>
            <a:r>
              <a:rPr dirty="0"/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6583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D3DFF0"/>
                </a:solidFill>
              </a:defRPr>
            </a:pPr>
            <a:r>
              <a:rPr dirty="0"/>
              <a:t>EDA • Model Comparison • Cross-Validation</a:t>
            </a:r>
            <a:br>
              <a:rPr dirty="0"/>
            </a:br>
            <a:r>
              <a:rPr dirty="0"/>
              <a:t>Random Forest Tuning • Interactive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06908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FC2DC"/>
                </a:solidFill>
              </a:defRPr>
            </a:pPr>
            <a:r>
              <a:t>Python • Scikit-learn • Google Colab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257800"/>
            <a:ext cx="1371600" cy="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03120" y="5257800"/>
            <a:ext cx="320040" cy="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423160" y="4617720"/>
            <a:ext cx="228600" cy="64008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1760" y="4617720"/>
            <a:ext cx="274320" cy="118872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26080" y="5257800"/>
            <a:ext cx="320040" cy="54864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5257800"/>
            <a:ext cx="1508760" cy="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5257800"/>
            <a:ext cx="411480" cy="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166360" y="4846320"/>
            <a:ext cx="274320" cy="41148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40680" y="4846320"/>
            <a:ext cx="228600" cy="77724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69280" y="5257800"/>
            <a:ext cx="274320" cy="36576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5257800"/>
            <a:ext cx="1645920" cy="0"/>
          </a:xfrm>
          <a:prstGeom prst="line">
            <a:avLst/>
          </a:prstGeom>
          <a:ln w="31750">
            <a:solidFill>
              <a:srgbClr val="259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C5D3E7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47104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C5D3E7"/>
                </a:solidFill>
              </a:defRPr>
            </a:pPr>
            <a: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1C24A-4C81-7E3B-0A59-4D0767645B2C}"/>
              </a:ext>
            </a:extLst>
          </p:cNvPr>
          <p:cNvSpPr txBox="1"/>
          <p:nvPr/>
        </p:nvSpPr>
        <p:spPr>
          <a:xfrm>
            <a:off x="8257902" y="1989474"/>
            <a:ext cx="237852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lang="en-US" sz="2400" dirty="0"/>
              <a:t>Team Members</a:t>
            </a:r>
            <a:endParaRPr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8AB067-751C-945B-9829-0B61C626D936}"/>
              </a:ext>
            </a:extLst>
          </p:cNvPr>
          <p:cNvSpPr txBox="1"/>
          <p:nvPr/>
        </p:nvSpPr>
        <p:spPr>
          <a:xfrm>
            <a:off x="7191646" y="2420361"/>
            <a:ext cx="451104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lang="en-US" sz="1600" dirty="0"/>
              <a:t>	T170800230 – Nikhil Goraksh Wagh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lang="en-US" sz="1600" dirty="0"/>
              <a:t>	T170800229 – Prathmesh Sopan Shinde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lang="en-US" sz="1600" dirty="0"/>
              <a:t>	T170800226 – Vishal Vikram Sarde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lang="en-US" sz="1600" dirty="0"/>
              <a:t>	T170800232 – Pratik Rameshwar Shinde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1. 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023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What does the project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Uses patient-related clinical features to predict heart disease.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Builds and compares four classification models.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Evaluates models using Accuracy, Precision, Recall, F1 and ROC-AUC.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Tunes Random Forest and uses the selected model for interactive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14300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Overall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11430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1874519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0" y="2121408"/>
            <a:ext cx="41148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1828800"/>
            <a:ext cx="11430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16952" y="1874519"/>
            <a:ext cx="9966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EDA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121408"/>
            <a:ext cx="41148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98280" y="1828800"/>
            <a:ext cx="12801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5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432" y="1874519"/>
            <a:ext cx="11338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Models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78440" y="2121408"/>
            <a:ext cx="41148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789920" y="1737360"/>
            <a:ext cx="9144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63072" y="1783080"/>
            <a:ext cx="76809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3223B"/>
                </a:solidFill>
              </a:defRPr>
            </a:pPr>
            <a:r>
              <a:t>Tune +</a:t>
            </a:r>
            <a:br/>
            <a:r>
              <a:t>Predict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971800"/>
            <a:ext cx="5074920" cy="1463040"/>
          </a:xfrm>
          <a:prstGeom prst="roundRect">
            <a:avLst/>
          </a:prstGeom>
          <a:solidFill>
            <a:srgbClr val="E8F6ED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2971800"/>
            <a:ext cx="54864" cy="146304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308152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KEY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29000"/>
            <a:ext cx="4754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A reusable Random Forest model (best_rf) that can return both the predicted class and prediction probability.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643"/>
                </a:solidFill>
              </a:defRPr>
            </a:pPr>
            <a:r>
              <a:t>• Heart disease prediction depends on multiple patient attributes.</a:t>
            </a:r>
          </a:p>
          <a:p>
            <a:pPr>
              <a:spcAft>
                <a:spcPts val="900"/>
              </a:spcAft>
              <a:defRPr sz="1500">
                <a:solidFill>
                  <a:srgbClr val="2D3643"/>
                </a:solidFill>
              </a:defRPr>
            </a:pPr>
            <a:r>
              <a:t>• Different algorithms can behave differently on the same dataset.</a:t>
            </a:r>
          </a:p>
          <a:p>
            <a:pPr>
              <a:spcAft>
                <a:spcPts val="900"/>
              </a:spcAft>
              <a:defRPr sz="1500">
                <a:solidFill>
                  <a:srgbClr val="2D3643"/>
                </a:solidFill>
              </a:defRPr>
            </a:pPr>
            <a:r>
              <a:t>• A single metric may not capture the full performance picture.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1430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Project objective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00200"/>
            <a:ext cx="4937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600200"/>
            <a:ext cx="54864" cy="192024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709928"/>
            <a:ext cx="4617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3223B"/>
                </a:solidFill>
              </a:defRPr>
            </a:pPr>
            <a:r>
              <a:t>BUILD → COMPARE →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057400"/>
            <a:ext cx="4617720" cy="1353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3"/>
                </a:solidFill>
              </a:defRPr>
            </a:pPr>
            <a:r>
              <a:t>Train multiple classifiers, compare their test-set metrics, validate the Random Forest candidate, and tune it using cross-validation.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8862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Final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480560"/>
            <a:ext cx="1828800" cy="365760"/>
          </a:xfrm>
          <a:prstGeom prst="roundRect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4498848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D34E4E"/>
                </a:solidFill>
              </a:defRPr>
            </a:pPr>
            <a:r>
              <a:t>Predicted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480560"/>
            <a:ext cx="2148840" cy="365760"/>
          </a:xfrm>
          <a:prstGeom prst="roundRect">
            <a:avLst/>
          </a:prstGeom>
          <a:solidFill>
            <a:srgbClr val="E4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449884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59D9D"/>
                </a:solidFill>
              </a:defRPr>
            </a:pPr>
            <a:r>
              <a:t>Prediction 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3. Dataset &amp; Target Variable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Dataset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Dataset: heart_disease_dataset.csv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Target column: heart_disease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Initial inspection includes shape, data types, statistics and missing values.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Target is treated as a binary classification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0972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Target 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00200"/>
            <a:ext cx="2103120" cy="1325880"/>
          </a:xfrm>
          <a:prstGeom prst="roundRect">
            <a:avLst/>
          </a:prstGeom>
          <a:solidFill>
            <a:srgbClr val="E4F4F2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600200"/>
            <a:ext cx="54864" cy="1325880"/>
          </a:xfrm>
          <a:prstGeom prst="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709928"/>
            <a:ext cx="17830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3223B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057400"/>
            <a:ext cx="1783079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No heart disease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600200"/>
            <a:ext cx="2103120" cy="1325880"/>
          </a:xfrm>
          <a:prstGeom prst="roundRect">
            <a:avLst/>
          </a:prstGeom>
          <a:solidFill>
            <a:srgbClr val="FCEBE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600200"/>
            <a:ext cx="54864" cy="1325880"/>
          </a:xfrm>
          <a:prstGeom prst="rect">
            <a:avLst/>
          </a:prstGeom>
          <a:solidFill>
            <a:srgbClr val="D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09928"/>
            <a:ext cx="17830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3223B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057400"/>
            <a:ext cx="1783079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Heart disease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3375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Train / test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84048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80760" y="3840480"/>
            <a:ext cx="54864" cy="114300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950208"/>
            <a:ext cx="4343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80% TRAIN  •  20%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297680"/>
            <a:ext cx="434340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random_state = 42 • stratify = 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4. Input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D3643"/>
                </a:solidFill>
              </a:defRPr>
            </a:pPr>
            <a:r>
              <a:t>The model uses 13 prediction features grouped into clinical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" cy="100584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Demographic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754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age, sex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4864" cy="1005840"/>
          </a:xfrm>
          <a:prstGeom prst="rect">
            <a:avLst/>
          </a:prstGeom>
          <a:solidFill>
            <a:srgbClr val="D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7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Symptoms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754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chest_pain_type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108960"/>
            <a:ext cx="54864" cy="1005840"/>
          </a:xfrm>
          <a:prstGeom prst="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1868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Vitals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4754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resting_blood_pressure, cholesterol, fasting_blood_sugar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10896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108960"/>
            <a:ext cx="54864" cy="1005840"/>
          </a:xfrm>
          <a:prstGeom prst="rect">
            <a:avLst/>
          </a:prstGeom>
          <a:solidFill>
            <a:srgbClr val="785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21868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ECG / Heart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66160"/>
            <a:ext cx="4754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resting_ecg, max_heart_rate, exercise_induced_angina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3484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434840"/>
            <a:ext cx="54864" cy="1005840"/>
          </a:xfrm>
          <a:prstGeom prst="rect">
            <a:avLst/>
          </a:prstGeom>
          <a:solidFill>
            <a:srgbClr val="E5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54456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ST / Vessels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92040"/>
            <a:ext cx="4754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st_depression, st_slope, num_major_vessels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34840"/>
            <a:ext cx="5074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434840"/>
            <a:ext cx="54864" cy="100584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54456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Other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92040"/>
            <a:ext cx="4754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thalassemia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5. 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D3643"/>
                </a:solidFill>
              </a:defRPr>
            </a:pPr>
            <a:r>
              <a:t>EDA was used to understand distribution, spread and relationships before modeling.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749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4864" cy="42519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VISUAL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754880" cy="3685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23B"/>
                </a:solidFill>
              </a:defRPr>
            </a:pPr>
            <a:r>
              <a:t>Target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743200"/>
            <a:ext cx="411480" cy="914400"/>
          </a:xfrm>
          <a:prstGeom prst="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0" y="2331720"/>
            <a:ext cx="411480" cy="1325880"/>
          </a:xfrm>
          <a:prstGeom prst="rect">
            <a:avLst/>
          </a:prstGeom>
          <a:solidFill>
            <a:srgbClr val="D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485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94760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687485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3223B"/>
                </a:solidFill>
              </a:defRPr>
            </a:pPr>
            <a:r>
              <a:t>Feature spread / outliers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834640"/>
            <a:ext cx="228600" cy="8229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2514600"/>
            <a:ext cx="228600" cy="114300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49040" y="3017520"/>
            <a:ext cx="228600" cy="64008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0520" y="2697480"/>
            <a:ext cx="228600" cy="96012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6459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What was examined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48840"/>
            <a:ext cx="4892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643"/>
                </a:solidFill>
              </a:defRPr>
            </a:pPr>
            <a:r>
              <a:t>• Count plot for target distribution.</a:t>
            </a:r>
          </a:p>
          <a:p>
            <a:pPr>
              <a:spcAft>
                <a:spcPts val="900"/>
              </a:spcAft>
              <a:defRPr sz="1300">
                <a:solidFill>
                  <a:srgbClr val="2D3643"/>
                </a:solidFill>
              </a:defRPr>
            </a:pPr>
            <a:r>
              <a:t>• Box plots for feature spread and potential outliers.</a:t>
            </a:r>
          </a:p>
          <a:p>
            <a:pPr>
              <a:spcAft>
                <a:spcPts val="900"/>
              </a:spcAft>
              <a:defRPr sz="1300">
                <a:solidFill>
                  <a:srgbClr val="2D3643"/>
                </a:solidFill>
              </a:defRPr>
            </a:pPr>
            <a:r>
              <a:t>• Skewness for numeric variables.</a:t>
            </a:r>
          </a:p>
          <a:p>
            <a:pPr>
              <a:spcAft>
                <a:spcPts val="900"/>
              </a:spcAft>
              <a:defRPr sz="1300">
                <a:solidFill>
                  <a:srgbClr val="2D3643"/>
                </a:solidFill>
              </a:defRPr>
            </a:pPr>
            <a:r>
              <a:t>• Correlation heatmap for relationships.</a:t>
            </a:r>
          </a:p>
          <a:p>
            <a:pPr>
              <a:spcAft>
                <a:spcPts val="900"/>
              </a:spcAft>
              <a:defRPr sz="1300">
                <a:solidFill>
                  <a:srgbClr val="2D3643"/>
                </a:solidFill>
              </a:defRPr>
            </a:pPr>
            <a:r>
              <a:t>• Feature comparisons for age, max heart rate, cholesterol, blood pressure and ST depression.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6.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Preparation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709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Separate features X from target y.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Split the data into training and testing sets.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Use stratification so class proportions are preserved.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Apply StandardScaler inside the Logistic Regression and SVM pipelines.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14300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4754880" cy="777240"/>
          </a:xfrm>
          <a:prstGeom prst="round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380390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80%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30384" y="1828800"/>
            <a:ext cx="950976" cy="77724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30384" y="1901952"/>
            <a:ext cx="95097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20%</a:t>
            </a:r>
            <a:br/>
            <a: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06324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063240"/>
            <a:ext cx="54864" cy="1234440"/>
          </a:xfrm>
          <a:prstGeom prst="rect">
            <a:avLst/>
          </a:prstGeom>
          <a:solidFill>
            <a:srgbClr val="785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172968"/>
            <a:ext cx="4434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PIPELINE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443484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StandardScaler → Logistic Regression and 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7. Machine Learning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8229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D3643"/>
                </a:solidFill>
              </a:defRPr>
            </a:pPr>
            <a:r>
              <a:t>Four classifiers were trained on the same train/test split for a fair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54864" cy="205740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2240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2240279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Linear baseline</a:t>
            </a:r>
            <a:br/>
            <a:r>
              <a:t>Scaled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54864" cy="2057400"/>
          </a:xfrm>
          <a:prstGeom prst="rect">
            <a:avLst/>
          </a:prstGeom>
          <a:solidFill>
            <a:srgbClr val="E5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892807"/>
            <a:ext cx="2240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40280"/>
            <a:ext cx="2240279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Tree-based</a:t>
            </a:r>
            <a:br/>
            <a:r>
              <a:t>rule learner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8308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783080"/>
            <a:ext cx="54864" cy="205740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892807"/>
            <a:ext cx="2240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40280"/>
            <a:ext cx="2240279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Ensemble of trees</a:t>
            </a:r>
            <a:br/>
            <a:r>
              <a:t>main tuning candidate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78308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783080"/>
            <a:ext cx="54864" cy="2057400"/>
          </a:xfrm>
          <a:prstGeom prst="rect">
            <a:avLst/>
          </a:prstGeom>
          <a:solidFill>
            <a:srgbClr val="785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19" y="1892807"/>
            <a:ext cx="22402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SVM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2240280"/>
            <a:ext cx="2240279" cy="1490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Margin-based</a:t>
            </a:r>
            <a:br/>
            <a:r>
              <a:t>scaled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3223B"/>
                </a:solidFill>
              </a:defRPr>
            </a:pPr>
            <a:r>
              <a:t>Why compare multiple models?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Different algorithms capture different patterns.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Comparison helps identify a stronger candidate before tuning.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8.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D3643"/>
                </a:solidFill>
              </a:defRPr>
            </a:pPr>
            <a:r>
              <a:t>The project reports several complementary metrics rather than relying only on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54864" cy="123444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0175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D3643"/>
                </a:solidFill>
              </a:defRPr>
            </a:pPr>
            <a:r>
              <a:t>Overall correct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54864" cy="1234440"/>
          </a:xfrm>
          <a:prstGeom prst="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47088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0175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D3643"/>
                </a:solidFill>
              </a:defRPr>
            </a:pPr>
            <a:r>
              <a:t>Quality of positive predictions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7373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737360"/>
            <a:ext cx="54864" cy="1234440"/>
          </a:xfrm>
          <a:prstGeom prst="rect">
            <a:avLst/>
          </a:prstGeom>
          <a:solidFill>
            <a:srgbClr val="D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847088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194560"/>
            <a:ext cx="30175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D3643"/>
                </a:solidFill>
              </a:defRPr>
            </a:pPr>
            <a:r>
              <a:t>Ability to detect positives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337560"/>
            <a:ext cx="54864" cy="1234440"/>
          </a:xfrm>
          <a:prstGeom prst="rect">
            <a:avLst/>
          </a:prstGeom>
          <a:solidFill>
            <a:srgbClr val="785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447288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94760"/>
            <a:ext cx="30175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D3643"/>
                </a:solidFill>
              </a:defRPr>
            </a:pPr>
            <a:r>
              <a:t>Balance of precision and recall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3375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337560"/>
            <a:ext cx="54864" cy="123444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3447288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Specificity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94760"/>
            <a:ext cx="30175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D3643"/>
                </a:solidFill>
              </a:defRPr>
            </a:pPr>
            <a:r>
              <a:t>Ability to detect negatives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3375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337560"/>
            <a:ext cx="54864" cy="1234440"/>
          </a:xfrm>
          <a:prstGeom prst="rect">
            <a:avLst/>
          </a:prstGeom>
          <a:solidFill>
            <a:srgbClr val="E58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3447288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ROC-AUC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794760"/>
            <a:ext cx="30175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D3643"/>
                </a:solidFill>
              </a:defRPr>
            </a:pPr>
            <a:r>
              <a:t>Class discrimination 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25780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3223B"/>
                </a:solidFill>
              </a:defRPr>
            </a:pPr>
            <a:r>
              <a:t>Confusion Matrix → TP • TN • FP • FN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9. Baseline Model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3223B"/>
                </a:solidFill>
              </a:defRPr>
            </a:pPr>
            <a:r>
              <a:t>Test-set results from the project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150876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508760"/>
            <a:ext cx="3611880" cy="1143000"/>
          </a:xfrm>
          <a:prstGeom prst="roundRect">
            <a:avLst/>
          </a:prstGeom>
          <a:solidFill>
            <a:srgbClr val="E8F6ED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508760"/>
            <a:ext cx="54864" cy="114300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19" y="1618488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RECALL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965960"/>
            <a:ext cx="329184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Random Forest • 0.7500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926080"/>
            <a:ext cx="3611880" cy="1143000"/>
          </a:xfrm>
          <a:prstGeom prst="roundRect">
            <a:avLst/>
          </a:prstGeom>
          <a:solidFill>
            <a:srgbClr val="E8EFFD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926080"/>
            <a:ext cx="54864" cy="114300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3035808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F1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3383280"/>
            <a:ext cx="329184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Logistic Regression • 0.7111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343400"/>
            <a:ext cx="3611880" cy="1143000"/>
          </a:xfrm>
          <a:prstGeom prst="roundRect">
            <a:avLst/>
          </a:prstGeom>
          <a:solidFill>
            <a:srgbClr val="FCEBE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4343400"/>
            <a:ext cx="54864" cy="1143000"/>
          </a:xfrm>
          <a:prstGeom prst="rect">
            <a:avLst/>
          </a:prstGeom>
          <a:solidFill>
            <a:srgbClr val="D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19" y="4453128"/>
            <a:ext cx="3291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LOWEST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4800600"/>
            <a:ext cx="329184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Decision Tree • 0.5750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10. ROC-AUC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D3643"/>
                </a:solidFill>
              </a:defRPr>
            </a:pPr>
            <a:r>
              <a:t>ROC-AUC provides a single view of class-discrimination performance.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554480"/>
          <a:ext cx="64008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52360" y="1554480"/>
            <a:ext cx="3657600" cy="1325880"/>
          </a:xfrm>
          <a:prstGeom prst="roundRect">
            <a:avLst/>
          </a:prstGeom>
          <a:solidFill>
            <a:srgbClr val="E8F6ED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0" y="1554480"/>
            <a:ext cx="54864" cy="132588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664207"/>
            <a:ext cx="3337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HIGHEST RECORDED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011680"/>
            <a:ext cx="3337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3"/>
                </a:solidFill>
              </a:defRPr>
            </a:pPr>
            <a:r>
              <a:t>Random Forest • 0.7601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246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3223B"/>
                </a:solidFill>
              </a:defRPr>
            </a:pPr>
            <a:r>
              <a:t>Why Random Forest?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2D3643"/>
                </a:solidFill>
              </a:defRPr>
            </a:pPr>
            <a:r>
              <a:t>• Strongest ROC-AUC among the four baseline models.</a:t>
            </a:r>
          </a:p>
          <a:p>
            <a:pPr>
              <a:spcAft>
                <a:spcPts val="900"/>
              </a:spcAft>
              <a:defRPr sz="1350">
                <a:solidFill>
                  <a:srgbClr val="2D3643"/>
                </a:solidFill>
              </a:defRPr>
            </a:pPr>
            <a:r>
              <a:t>• Also recorded the highest recall (0.7500).</a:t>
            </a:r>
          </a:p>
          <a:p>
            <a:pPr>
              <a:spcAft>
                <a:spcPts val="900"/>
              </a:spcAft>
              <a:defRPr sz="1350">
                <a:solidFill>
                  <a:srgbClr val="2D3643"/>
                </a:solidFill>
              </a:defRPr>
            </a:pPr>
            <a:r>
              <a:t>• Selected as the candidate for cross-validation and tuning.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11. Cross-Validation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5-fold Stratified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00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The dataset is divided into 5 folds.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Each fold becomes validation data once while the remaining folds train the model.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Stratification keeps the target distribution more consistent across folds.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Metrics are calculated across the folds to assess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28800"/>
            <a:ext cx="822960" cy="411480"/>
          </a:xfrm>
          <a:prstGeom prst="round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591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223B"/>
                </a:solidFill>
              </a:defRPr>
            </a:pPr>
            <a:r>
              <a:t>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828800"/>
            <a:ext cx="822960" cy="411480"/>
          </a:xfrm>
          <a:prstGeom prst="round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591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223B"/>
                </a:solidFill>
              </a:defRPr>
            </a:pPr>
            <a:r>
              <a:t>F2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79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79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1828800"/>
            <a:ext cx="822960" cy="411480"/>
          </a:xfrm>
          <a:prstGeom prst="round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79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83879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83879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23591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223B"/>
                </a:solidFill>
              </a:defRPr>
            </a:pPr>
            <a:r>
              <a:t>F3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544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3544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1828800"/>
            <a:ext cx="822960" cy="411480"/>
          </a:xfrm>
          <a:prstGeom prst="round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3544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3544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23591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223B"/>
                </a:solidFill>
              </a:defRPr>
            </a:pPr>
            <a:r>
              <a:t>F4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8700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8700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8700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8700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8700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87000" y="1828800"/>
            <a:ext cx="822960" cy="411480"/>
          </a:xfrm>
          <a:prstGeom prst="roundRect">
            <a:avLst/>
          </a:prstGeom>
          <a:solidFill>
            <a:srgbClr val="DD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8700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7485"/>
                </a:solidFill>
              </a:defRPr>
            </a:pPr>
            <a:r>
              <a:t>TR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87000" y="1828800"/>
            <a:ext cx="822960" cy="411480"/>
          </a:xfrm>
          <a:prstGeom prst="round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87000" y="1901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23591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223B"/>
                </a:solidFill>
              </a:defRPr>
            </a:pPr>
            <a:r>
              <a:t>F5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0760" y="32461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080760" y="3246120"/>
            <a:ext cx="54864" cy="1234440"/>
          </a:xfrm>
          <a:prstGeom prst="rect">
            <a:avLst/>
          </a:prstGeom>
          <a:solidFill>
            <a:srgbClr val="785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63640" y="3355848"/>
            <a:ext cx="4937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3223B"/>
                </a:solidFill>
              </a:defRPr>
            </a:pPr>
            <a:r>
              <a:t>METRICS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3703320"/>
            <a:ext cx="49377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t>Accuracy • Precision • Recall • F1 • ROC-AUC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4846320"/>
            <a:ext cx="5120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D3643"/>
                </a:solidFill>
              </a:defRPr>
            </a:pPr>
            <a:r>
              <a:t>Purpose: test whether Random Forest performance is stable across different splits.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12. Random Forest Hyperparameter 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Why tune?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The baseline Random Forest was the strongest candidate by ROC-AUC.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RandomizedSearchCV explores multiple parameter combinations.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F1-score is used as the optimization metric.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9728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Tuning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1417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1783080"/>
            <a:ext cx="1271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3223B"/>
                </a:solidFill>
              </a:defRPr>
            </a:pPr>
            <a:r>
              <a:t>20 combinations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2057400"/>
            <a:ext cx="36576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1737360"/>
            <a:ext cx="1325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2" y="1783080"/>
            <a:ext cx="11795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5-fold CV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2057400"/>
            <a:ext cx="36576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1737360"/>
            <a:ext cx="11430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2912" y="1783080"/>
            <a:ext cx="9966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Best 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3464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t>Parameters searched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337560"/>
            <a:ext cx="2240280" cy="36576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3355848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306CDC"/>
                </a:solidFill>
              </a:defRPr>
            </a:pPr>
            <a:r>
              <a:t>n_estimators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3337560"/>
            <a:ext cx="2240280" cy="36576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59" y="3355848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59D9D"/>
                </a:solidFill>
              </a:defRPr>
            </a:pPr>
            <a:r>
              <a:t>max_depth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977639"/>
            <a:ext cx="2240280" cy="36576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3995927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D34E4E"/>
                </a:solidFill>
              </a:defRPr>
            </a:pPr>
            <a:r>
              <a:t>min_samples_split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59" y="3977639"/>
            <a:ext cx="2240280" cy="36576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59" y="3995927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7858B5"/>
                </a:solidFill>
              </a:defRPr>
            </a:pPr>
            <a:r>
              <a:t>min_samples_leaf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617720"/>
            <a:ext cx="2240280" cy="365760"/>
          </a:xfrm>
          <a:prstGeom prst="round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0" y="4636007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E58F39"/>
                </a:solidFill>
              </a:defRPr>
            </a:pPr>
            <a:r>
              <a:t>max_features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13. Interactive Prediction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D3643"/>
                </a:solidFill>
              </a:defRPr>
            </a:pPr>
            <a:r>
              <a:t>The final stage connects the tuned model to an interactive input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492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3223B"/>
                </a:solidFill>
              </a:defRPr>
            </a:pPr>
            <a:r>
              <a:t>Heart Disease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560320"/>
            <a:ext cx="2423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2560320"/>
            <a:ext cx="54864" cy="5943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39" y="267004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3223B"/>
                </a:solidFill>
              </a:defRPr>
            </a:pPr>
            <a:r>
              <a:t>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39" y="3017520"/>
            <a:ext cx="2103120" cy="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3643"/>
                </a:solidFill>
              </a:defRPr>
            </a:pPr>
            <a:r>
              <a:t>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560320"/>
            <a:ext cx="2423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2560320"/>
            <a:ext cx="54864" cy="5943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9080" y="267004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3223B"/>
                </a:solidFill>
              </a:defRPr>
            </a:pPr>
            <a:r>
              <a:t>sex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017520"/>
            <a:ext cx="2103120" cy="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3643"/>
                </a:solidFill>
              </a:defRPr>
            </a:pPr>
            <a: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383279"/>
            <a:ext cx="2423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1560" y="3383279"/>
            <a:ext cx="54864" cy="5943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39" y="349300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3223B"/>
                </a:solidFill>
              </a:defRPr>
            </a:pPr>
            <a:r>
              <a:t>chest_pain_type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39" y="3840479"/>
            <a:ext cx="2103120" cy="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3643"/>
                </a:solidFill>
              </a:defRPr>
            </a:pPr>
            <a:r>
              <a:t>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3383279"/>
            <a:ext cx="2423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86200" y="3383279"/>
            <a:ext cx="54864" cy="5943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69080" y="349300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3223B"/>
                </a:solidFill>
              </a:defRPr>
            </a:pPr>
            <a:r>
              <a:t>resting_bp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840479"/>
            <a:ext cx="2103120" cy="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3643"/>
                </a:solidFill>
              </a:defRPr>
            </a:pPr>
            <a:r>
              <a:t>input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206240"/>
            <a:ext cx="2423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51560" y="4206240"/>
            <a:ext cx="54864" cy="5943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39" y="431596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3223B"/>
                </a:solidFill>
              </a:defRPr>
            </a:pPr>
            <a:r>
              <a:t>cholesterol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39" y="4663440"/>
            <a:ext cx="2103120" cy="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3643"/>
                </a:solidFill>
              </a:defRPr>
            </a:pPr>
            <a:r>
              <a:t>input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4206240"/>
            <a:ext cx="2423160" cy="594360"/>
          </a:xfrm>
          <a:prstGeom prst="roundRect">
            <a:avLst/>
          </a:prstGeom>
          <a:solidFill>
            <a:srgbClr val="F7F9FC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86200" y="4206240"/>
            <a:ext cx="54864" cy="59436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69080" y="431596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3223B"/>
                </a:solidFill>
              </a:defRPr>
            </a:pPr>
            <a:r>
              <a:t>max_heart_rate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663440"/>
            <a:ext cx="2103120" cy="274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2D3643"/>
                </a:solidFill>
              </a:defRPr>
            </a:pPr>
            <a:r>
              <a:t>input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5074920"/>
            <a:ext cx="1417320" cy="365760"/>
          </a:xfrm>
          <a:prstGeom prst="roundRect">
            <a:avLst/>
          </a:prstGeom>
          <a:solidFill>
            <a:srgbClr val="E8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5093207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3E9D65"/>
                </a:solidFill>
              </a:defRPr>
            </a:pPr>
            <a:r>
              <a:t>Predict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645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Prediction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214884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Collect patient values.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Create a DataFrame with the same feature structure used during training.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Call best_rf.predict() for the class.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Use predict_proba() to show the prediction probability.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4709160"/>
            <a:ext cx="3566160" cy="914400"/>
          </a:xfrm>
          <a:prstGeom prst="roundRect">
            <a:avLst/>
          </a:prstGeom>
          <a:solidFill>
            <a:srgbClr val="FCEBEB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26679" y="4709160"/>
            <a:ext cx="54864" cy="914400"/>
          </a:xfrm>
          <a:prstGeom prst="rect">
            <a:avLst/>
          </a:prstGeom>
          <a:solidFill>
            <a:srgbClr val="D3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09559" y="4818888"/>
            <a:ext cx="3246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3223B"/>
                </a:solidFill>
              </a:defRPr>
            </a:pPr>
            <a: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59" y="5166360"/>
            <a:ext cx="3246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2D3643"/>
                </a:solidFill>
              </a:defRPr>
            </a:pPr>
            <a:r>
              <a:t>Predicted class + probability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9784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13223B"/>
                </a:solidFill>
              </a:defRPr>
            </a:pPr>
            <a:r>
              <a:t>14. Saving the Trained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" y="0"/>
            <a:ext cx="0" cy="0"/>
          </a:xfrm>
          <a:prstGeom prst="roundRect">
            <a:avLst/>
          </a:prstGeom>
          <a:solidFill>
            <a:srgbClr val="25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32918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2D3643"/>
                </a:solidFill>
              </a:defRPr>
            </a:pPr>
            <a:r>
              <a:t>The trained model can be serialized as a .pkl file for later reuse.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577840" cy="3108960"/>
          </a:xfrm>
          <a:prstGeom prst="roundRect">
            <a:avLst/>
          </a:prstGeom>
          <a:solidFill>
            <a:srgbClr val="13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9377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import pickle</a:t>
            </a:r>
            <a:br/>
            <a:br/>
            <a:r>
              <a:t>with open("model.pkl", "wb") as file:</a:t>
            </a:r>
            <a:br/>
            <a:r>
              <a:t>    pickle.dump(best_rf, file)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BEBE"/>
                </a:solidFill>
              </a:defRPr>
            </a:pPr>
            <a:r>
              <a:t>If you get  NameError: name 'model' is not defined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D2DEF0"/>
                </a:solidFill>
              </a:defRPr>
            </a:pPr>
            <a:r>
              <a:t>use the actual trained variable, such as best_rf.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3736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100" b="1">
                <a:solidFill>
                  <a:srgbClr val="13223B"/>
                </a:solidFill>
              </a:defRPr>
            </a:pPr>
            <a:r>
              <a:t>Why save as .pkl?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24028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Avoid retraining every time.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Load the trained model in another Python session.</a:t>
            </a:r>
          </a:p>
          <a:p>
            <a:pPr>
              <a:spcAft>
                <a:spcPts val="900"/>
              </a:spcAft>
              <a:defRPr sz="1400">
                <a:solidFill>
                  <a:srgbClr val="2D3643"/>
                </a:solidFill>
              </a:defRPr>
            </a:pPr>
            <a:r>
              <a:t>• Use the saved model for future predictions or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526280"/>
            <a:ext cx="12344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9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76872" y="4572000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best_rf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4828032"/>
            <a:ext cx="41148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49640" y="4526280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5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22792" y="4572000"/>
            <a:ext cx="117957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3223B"/>
                </a:solidFill>
              </a:defRPr>
            </a:pPr>
            <a:r>
              <a:t>model.pkl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20" y="4828032"/>
            <a:ext cx="411480" cy="0"/>
          </a:xfrm>
          <a:prstGeom prst="line">
            <a:avLst/>
          </a:prstGeom>
          <a:ln w="25400">
            <a:solidFill>
              <a:srgbClr val="6874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87000" y="4526280"/>
            <a:ext cx="9144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60152" y="4572000"/>
            <a:ext cx="76809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3223B"/>
                </a:solidFill>
              </a:defRPr>
            </a:pPr>
            <a:r>
              <a:t>load + 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87485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87485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023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53BFCD"/>
                </a:solidFill>
              </a:defRPr>
            </a:pPr>
            <a:r>
              <a:t>What the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DCE6F2"/>
                </a:solidFill>
              </a:defRPr>
            </a:pPr>
            <a:r>
              <a:t>• A complete end-to-end machine learning classification workflow.</a:t>
            </a:r>
          </a:p>
          <a:p>
            <a:pPr>
              <a:spcAft>
                <a:spcPts val="900"/>
              </a:spcAft>
              <a:defRPr sz="1400">
                <a:solidFill>
                  <a:srgbClr val="DCE6F2"/>
                </a:solidFill>
              </a:defRPr>
            </a:pPr>
            <a:r>
              <a:t>• Four baseline models evaluated on the same test data.</a:t>
            </a:r>
          </a:p>
          <a:p>
            <a:pPr>
              <a:spcAft>
                <a:spcPts val="900"/>
              </a:spcAft>
              <a:defRPr sz="1400">
                <a:solidFill>
                  <a:srgbClr val="DCE6F2"/>
                </a:solidFill>
              </a:defRPr>
            </a:pPr>
            <a:r>
              <a:t>• Random Forest selected for further validation and hyperparameter tuning.</a:t>
            </a:r>
          </a:p>
          <a:p>
            <a:pPr>
              <a:spcAft>
                <a:spcPts val="900"/>
              </a:spcAft>
              <a:defRPr sz="1400">
                <a:solidFill>
                  <a:srgbClr val="DCE6F2"/>
                </a:solidFill>
              </a:defRPr>
            </a:pPr>
            <a:r>
              <a:t>• Interactive prediction interface provides a practical demonstration.</a:t>
            </a:r>
          </a:p>
          <a:p>
            <a:pPr>
              <a:spcAft>
                <a:spcPts val="900"/>
              </a:spcAft>
              <a:defRPr sz="1400">
                <a:solidFill>
                  <a:srgbClr val="DCE6F2"/>
                </a:solidFill>
              </a:defRPr>
            </a:pPr>
            <a:r>
              <a:t>• The trained model can be saved as a reusable .pkl artifact.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08760"/>
            <a:ext cx="4206240" cy="1325880"/>
          </a:xfrm>
          <a:prstGeom prst="roundRect">
            <a:avLst/>
          </a:prstGeom>
          <a:solidFill>
            <a:srgbClr val="223E40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1508760"/>
            <a:ext cx="54864" cy="1325880"/>
          </a:xfrm>
          <a:prstGeom prst="rect">
            <a:avLst/>
          </a:prstGeom>
          <a:solidFill>
            <a:srgbClr val="3E9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586371"/>
            <a:ext cx="3886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KEY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083826"/>
            <a:ext cx="38862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3643"/>
                </a:solidFill>
              </a:defRPr>
            </a:pPr>
            <a:r>
              <a:rPr dirty="0">
                <a:solidFill>
                  <a:schemeClr val="bg2"/>
                </a:solidFill>
              </a:rPr>
              <a:t>Random Forest recorded ROC-AUC = 0.7601 and Recall = 0.7500.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108960"/>
            <a:ext cx="4206240" cy="1325880"/>
          </a:xfrm>
          <a:prstGeom prst="roundRect">
            <a:avLst/>
          </a:prstGeom>
          <a:solidFill>
            <a:srgbClr val="1F334E"/>
          </a:solidFill>
          <a:ln>
            <a:solidFill>
              <a:srgbClr val="DC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0" y="3108960"/>
            <a:ext cx="54864" cy="1325880"/>
          </a:xfrm>
          <a:prstGeom prst="rect">
            <a:avLst/>
          </a:prstGeom>
          <a:solidFill>
            <a:srgbClr val="306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0" y="3186571"/>
            <a:ext cx="3886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3223B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699415"/>
            <a:ext cx="38862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3643"/>
                </a:solidFill>
              </a:defRPr>
            </a:pPr>
            <a:r>
              <a:rPr dirty="0">
                <a:solidFill>
                  <a:schemeClr val="bg2"/>
                </a:solidFill>
              </a:rPr>
              <a:t>Use the tuned model in a more complete application and validate it on appropriate external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53BFCD"/>
                </a:solidFill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C5D3E7"/>
                </a:solidFill>
              </a:defRPr>
            </a:pPr>
            <a:r>
              <a:t>Heart Disease Prediction • Machine Learning Classification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47104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C5D3E7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1341</Words>
  <Application>Microsoft Office PowerPoint</Application>
  <PresentationFormat>Widescreen</PresentationFormat>
  <Paragraphs>277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Nikhil Wagh</dc:creator>
  <cp:keywords/>
  <dc:description>generated using python-pptx</dc:description>
  <cp:lastModifiedBy>Nikhil Wagh</cp:lastModifiedBy>
  <cp:revision>2</cp:revision>
  <dcterms:created xsi:type="dcterms:W3CDTF">2013-01-27T09:14:16Z</dcterms:created>
  <dcterms:modified xsi:type="dcterms:W3CDTF">2026-08-13T19:17:23Z</dcterms:modified>
  <cp:category/>
</cp:coreProperties>
</file>